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roblema e fontes" id="{8f8908a3-324e-d69f-f20d-2a8df6786ca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Processos e estrelas" id="{77da8932-6ded-9f19-985a-0437f079873f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Constelação e integração" id="{7dddd934-f186-65d3-7366-3f05aba1a37b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4. Consultas OLAP" id="{52cc068d-76d5-0613-9d7e-589f0b240c49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 em uma frase: um data warehouse que junta oferta de equipes, atendimentos e internações evitáveis em São Carlos. O contorno do mapa é o município oficial (IBGE); os pontos são as UBS e USF do CNES.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roteiro: quatro partes, cerca de cinco minutos cada. Dizer quem apresenta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 básica (UBS e USF) é a porta de entrada do SUS e acompanha a população do território. Quando funciona, hipertensão, diabetes, asma e infecção urinária são controladas no posto. Quando falha, viram internação. Essas internações evitáveis são as ICSAP, com lista oficial na Portaria SAS/MS 221/2008, e são o indicador clássico de efetividade da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Recorte: município de São Carlos. População do Censo 2022 confirmada na API do IBGE: 254.857 habitantes. A API de Dados Abertos do Ministério da Saúde lista 36 estabelecimentos do tipo 02 (centro de saúde / unidade básica). Curiosidade: várias coordenadas da API coincidem, então a geolocalização da fonte é imprecisa. Por isso o DW usa bairro e código, não as coordenadas, para agregar.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orienta todo o modelo. Para respondê-la precisamos olhar a oferta (equipes), o uso (produção ambulatorial) e o resultado (internações evitáveis) na mesma linha do tempo. É isso que a constelação de fatos e o drill-across permitem.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fontes públicas e oficiais. Três principais do DATASUS: CNES (equipes e estabelecimentos), SIH (uma linha por internação, a AIH) e SIA (produção ambulatorial). Duas auxiliares: IBGE para nomes e regiões dos municípios e a API do CNES para nome, bairro e coordenadas. Baixamos com o PySUS; os arquivos são estaduais e mensais, então filtramos São Carlos. Período: 2023 e 2024, 24 competências.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2: os três processos de negócio e as estrelas.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notação vista em aula: cada data mart tem uma demanda, um foco (as medidas) e perspectivas (as dimensões). Oferta de equipes, internações e produção ambulatorial. Cada um vira uma tabela de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1, oferta de equipes. Grão: uma equipe ativa em um estabelecimento em um mês, uma fotografia mensal. Não há medida numérica: é uma tabela de fatos sem fato, e o número de equipes sai da contagem de linhas. O id da equipe fica na própria tabela de fatos como dimensão degenerada.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a contagem de equipes é semiaditiva: pode somar entre estabelecimentos e tipos, mas não ao longo do tempo. Se a mesma equipe existe em janeiro e em fevereiro, somar os meses conta duas vezes. Entre meses usamos a média ou o último mês. Os números do slide são só um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2, internações (SIH). Grão: uma AIH, ou seja, uma internação. Medidas aditivas: quantidade, dias de permanência e valor. A média de permanência é derivada e não aditiva. Caráter do atendimento, óbito e UTI viraram uma tabela bugiganga. O número da AIH é dimensão degenerada. AIHs de continuação, de longa permanência, são descartadas para não contar a mesma internação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3, produção ambulatorial (SIA). O arquivo público já vem parcialmente agregado, então o grão é estabelecimento × procedimento × mês × perfil do paciente × município de residência × ocupação (CBO). Quatro medidas aditivas. A taxa de aprovação é derivada e não aditiva: soma do aprovado dividida pela soma do apresentado, nunca somando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3: como as três estrelas viram uma constelação e como os dados foram integrados.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passos: modelamos cada estrela separadamente; identificamos as dimensões que aparecem em mais de uma; tornamos essas dimensões conformes (mesma chave, mesmos atributos, mesmos valores); e ligamos os três fatos às mesmas tabelas. As dimensões em destaque são compartilhadas: tempo, estabelecimento, procedimento, perfil do paciente e localidade.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informação em forma de matriz: linhas são as dimensões, colunas os fatos. As cinco primeiras linhas aparecem em mais de um fato e são as dimensões conformes. Tempo e estabelecimento são as únicas que aparecem nos três, e é por elas que o drill-across acontece.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Integração: o mesmo dado chega de fontes diferentes com códigos diferentes, e escolhemos uma única representação no DW. Sexo: o SIH usa 1 e 3, o SIA usa M e F; no DW fica M, F e I de ignorado. Idade: o SIH manda valor mais unidade (dias, meses, anos); vira faixa etária. Município: DATASUS usa 6 dígitos e IBGE 7; ficamos com 6. CNES às vezes perde os zeros à esquerda; padronizamos 7 dígitos. Competência: o SIH separa ano e mês; o resto usa AAAAMM.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hierarquias usam o operador de ordenação parcial: A ≤ B quer dizer que A é mais detalhado e cada A pertence a um único B. No tempo, mês, trimestre, semestre e ano. No diagnóstico há duas hierarquias: a da CID (código, categoria, capítulo) e a de ICSAP (código, grupo ICSAP, sim/não). No procedimento, o próprio código SIGTAP é hierárquico: os prefixos de 2, 4 e 6 dígitos são grupo, subgrupo e forma de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aspectos de modelagem pedidos no enunciado: chave artificial em todas as dimensões, com um membro 0 'Não informado' para não perder fatos; tabela bugiganga; dimensões degeneradas; tabela de fatos sem fato. Mais duas decisões nossas: a mini-dimensão de perfil (sexo × faixa etária) e filtrar demanda por residência e oferta pelo município do estabelecimento.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4: as cinco consultas, uma por operação OLAP.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1, roll-up no tempo, com dados reais do SIH. Foram 5.255 internações por condições sensíveis à atenção primária de residentes em São Carlos em dois anos, 16% de todas as internações de residentes. No mês, o maior valor é dezembro de 2023, com 291, e o menor é janeiro de 2024, com 167: o mês aqui é o de processamento da AIH, então parte dessa oscilação é o ritmo de apresentação dos hospitais. Subindo para trimestre a série fica estável, entre 572 e 728. No ano: 2.700 em 2023 e 2.555 em 2024, queda de cerca de 5%. Fato: internação; filtro ICSAP = sim e residência = São Carlos; medida: soma de qtd_internacoes.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2, drill-down no procedimento, com dados reais do SIA. Nos estabelecimentos de São Carlos, o grupo com mais procedimentos aprovados é o 02, finalidade diagnóstica, com 1,8 milhão em dois anos; o 03, procedimentos clínicos, vem depois em quantidade, mas tem o maior valor aprovado, cerca de R$ 31 milhões. Descendo no grupo 02, o subgrupo de laboratório clínico concentra 1,4 milhão, e no procedimento aparecem hemograma completo, com 127 mil, e dosagem de creatinina, com 102 mil. Os nomes vêm da tabela SIGTAP.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3, slice and dice. Slice: ano = 2024. Dice: ciclo de vida = idoso e diagnóstico ICSAP. Foram 1.358 internações evitáveis de idosos residentes em 2024. As doenças cerebrovasculares lideram, com 154 mulheres e 170 homens, seguidas da insuficiência cardíaca, com 128 e 114. A última coluna é a média de dias: doenças pulmonares ficam 9,5 dias e insuficiência cardíaca 8, as internações mais longas. São condições crônicas acompanhadas pela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4, pivot: ICSAP de residentes em 2023 e 2024, primeiro com causas nas linhas e ciclo de vida nas colunas, depois rotacionada. Na primeira leitura, cada causa mostra em que fase da vida pesa: as circulatórias são quase só de adultos e idosos, com 621 idosos por doença cerebrovascular. Na leitura girada, cada fase da vida mostra suas causas: nas crianças, as doenças pulmonares dominam, com 329. Isso orienta programas por público e linhas de cuidado por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5, drill-across, a pergunta central, com os três fatos reais. Cada fato é agregado sozinho por mês e os resultados são juntados por ano_mes, a dimensão conforme. Oferta: 23 equipes de Saúde da Família em todos os meses, cobertura estimada de 31,1%. Uso: a produção das UBS no SIA é zero em todos os meses, porque desde o e-SUS APS ela vai para o SISAB; a consulta mostra isso em vez de esconder. Internações: a taxa de ICSAP varia entre 6,55 e 11,42 por 10 mil habitantes e termina 2024 em 8,40. Com a oferta constante, ainda não dá para relacionar cobertura e internações; isso pede mais anos e os dados do SISAB.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Limites que os dados reais confirmaram. As UBS de São Carlos não lançam produção no SIA: ela está no SISAB, que não usamos. A cobertura é uma estimativa pelo parâmetro de 3.450 pessoas por equipe, e o número de equipes ficou constante em 23 nos dois anos. Usamos a competência, o mês de processamento, não a data da internação. E as coordenadas da API do CNES são imprecisas. Próximo passo: incluir o SISAB e mais anos para ter variação na oferta.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Retomar a frase: três processos, uma constelação, uma pergunta de política pública para São Carlos.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150417"/>
            <a:ext cx="397212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SCC0245 · TRABALHO PRÁTICO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1575562"/>
            <a:ext cx="6930906" cy="2243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à saúde em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i="1" spc="-77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São Carlos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4034155"/>
            <a:ext cx="7293253" cy="5829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Um data warehouse para ligar equipes, atendimentos e internações</a:t>
            </a:r>
            <a:endParaRPr lang="en-US" sz="17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evitáveis.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20750" y="4928865"/>
            <a:ext cx="7978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 fatos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6630" y="4928865"/>
            <a:ext cx="116675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 dimensões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67869" y="4928865"/>
            <a:ext cx="162776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 consultas OLAP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5665210"/>
            <a:ext cx="7503749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spc="8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IVAN MEDINA  ·  VINÍCIUS MOROTTI  ·  GERMANO JORGE  ·  MATHEUS RODRIGUES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1865253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Roteiro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01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3486150"/>
            <a:ext cx="2240369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Problema e fontes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7401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5500" dirty="0"/>
          </a:p>
        </p:txBody>
      </p:sp>
      <p:sp>
        <p:nvSpPr>
          <p:cNvPr id="8" name="Text 6"/>
          <p:cNvSpPr txBox="1"/>
          <p:nvPr/>
        </p:nvSpPr>
        <p:spPr>
          <a:xfrm>
            <a:off x="3740150" y="3486150"/>
            <a:ext cx="1466562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Processos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estrelas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3486150"/>
            <a:ext cx="1756877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integração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757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55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0" y="3486150"/>
            <a:ext cx="2104817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Consultas OLAP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27060" y="5468417"/>
            <a:ext cx="70563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27802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porta de entrada do SUS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4250" y="2565400"/>
            <a:ext cx="143523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UBS / USF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84250" y="2904296"/>
            <a:ext cx="20339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acompanha o território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4792" y="2255829"/>
            <a:ext cx="1862416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controla no posto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85250" y="2565400"/>
            <a:ext cx="198148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Paciente estável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85250" y="2904296"/>
            <a:ext cx="155572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cuidado contínuo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16252" y="4033829"/>
            <a:ext cx="1359496" cy="180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quando falha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85250" y="4343400"/>
            <a:ext cx="236020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Internação evitável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85250" y="4682296"/>
            <a:ext cx="643751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BCBB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5350" y="5665267"/>
            <a:ext cx="116664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hipertensão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2990" y="5665267"/>
            <a:ext cx="89008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diabetes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99209" y="5665267"/>
            <a:ext cx="52129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asma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90169" y="5665267"/>
            <a:ext cx="199654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pneumonia bacteriana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22268" y="5665267"/>
            <a:ext cx="171987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infecção urinária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02848" y="5665267"/>
            <a:ext cx="347169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Portaria SAS/MS 221/2008 · 19 grupos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213350" y="4889288"/>
            <a:ext cx="124631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9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ÁREA URBANA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36000" y="1584960"/>
            <a:ext cx="308533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254.857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2298477"/>
            <a:ext cx="32742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HABITANTES · CENSO 2022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36000" y="2853670"/>
            <a:ext cx="107245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36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36000" y="3567187"/>
            <a:ext cx="244214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UBS / USF NO CNES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36000" y="4119840"/>
            <a:ext cx="3019087" cy="337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pontos = coordenadas da API do CNES;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várias coincidem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340917"/>
            <a:ext cx="246393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709166"/>
            <a:ext cx="9175492" cy="2165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Mais atenção básica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significa </a:t>
            </a:r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menos internações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evitáveis?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308100" y="4572000"/>
            <a:ext cx="9101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08100" y="4833929"/>
            <a:ext cx="12243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ativas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90726" y="4572000"/>
            <a:ext cx="60871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Uso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90726" y="4833929"/>
            <a:ext cx="1170682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atendimentos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24537" y="4572000"/>
            <a:ext cx="13028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4537" y="4833929"/>
            <a:ext cx="6058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5098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fontes, um data warehouse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492250" y="2647295"/>
            <a:ext cx="80986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2250" y="2900437"/>
            <a:ext cx="206214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e estabelecimentos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2250" y="3528655"/>
            <a:ext cx="110585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SIH-SUS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92250" y="3781798"/>
            <a:ext cx="13069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(AIH)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92250" y="4410015"/>
            <a:ext cx="108020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SIA-SUS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92250" y="4663158"/>
            <a:ext cx="172446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ambulatorial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8225" y="3035300"/>
            <a:ext cx="5924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PySUS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68105" y="3235325"/>
            <a:ext cx="16486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filtro São Carlos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08115" y="3435350"/>
            <a:ext cx="112058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2023 – 2024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71295" y="3708400"/>
            <a:ext cx="82154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spc="-34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DW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35390" y="4109261"/>
            <a:ext cx="68053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DuckDB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93250" y="2995950"/>
            <a:ext cx="737612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IBGE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493250" y="3249092"/>
            <a:ext cx="93843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93250" y="3877310"/>
            <a:ext cx="1271309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 CNES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93250" y="4130452"/>
            <a:ext cx="1175266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nome · bairro ·</a:t>
            </a:r>
            <a:endParaRPr lang="en-US" sz="1100" dirty="0"/>
          </a:p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coordenadas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929183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Três processos de negócio</a:t>
            </a:r>
            <a:endParaRPr lang="en-US" sz="5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317315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Focos de interesse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17622" y="1723196"/>
            <a:ext cx="365832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acompanhar a oferta de equipes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53143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22350" y="2987675"/>
            <a:ext cx="202165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nº de equipes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22350" y="3419475"/>
            <a:ext cx="312015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 · mês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65893" y="1723196"/>
            <a:ext cx="266001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internações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2210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1417" y="2987675"/>
            <a:ext cx="30579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· dias · valor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1417" y="3419475"/>
            <a:ext cx="3142089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diagnóstico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paciente · residência · hospital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 · mês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40075" y="1723196"/>
            <a:ext cx="2810083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atendimentos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51377" y="2571750"/>
            <a:ext cx="158738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0584" y="2987675"/>
            <a:ext cx="2800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qtd e valor aprovados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0584" y="3419475"/>
            <a:ext cx="296484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procedimento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profissional · paciente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residência ·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267916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1 · CNES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42111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de equipes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 sem fato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390180" y="5894123"/>
            <a:ext cx="24658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equipe ativa × mês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848919" y="5894123"/>
            <a:ext cx="314067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id_equipe = dimensão degenerada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4880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Equipes não se somam no tempo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853605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266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7" name="Text 5"/>
          <p:cNvSpPr txBox="1"/>
          <p:nvPr/>
        </p:nvSpPr>
        <p:spPr>
          <a:xfrm>
            <a:off x="3534410" y="3030149"/>
            <a:ext cx="487680" cy="607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781"/>
              </a:lnSpc>
              <a:buNone/>
            </a:pPr>
            <a:r>
              <a:rPr lang="en-US" sz="4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346104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FEV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3191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7239000" y="24765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9295D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6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280400" y="2625149"/>
            <a:ext cx="3098869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soma dos meses · conta a mesma</a:t>
            </a:r>
            <a:endParaRPr lang="en-US" sz="14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 2×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39000" y="34290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280400" y="3693140"/>
            <a:ext cx="1959987" cy="2311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média ou último mês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5411267"/>
            <a:ext cx="282634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estabelecimentos 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81809" y="5411267"/>
            <a:ext cx="1812101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tipos 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546228" y="5411267"/>
            <a:ext cx="181210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meses ✗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645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2 · SIH-SUS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2860070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Internações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21281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1 AIH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14959" y="5894123"/>
            <a:ext cx="323704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bugiganga: caráter × óbito × UTI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374779" y="5894123"/>
            <a:ext cx="2947819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AIH de continuação descartada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23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3 · SIA-SUS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544943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 ambulatorial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5550495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estab. × proced. × mês × perfil × residência × CBO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8309" y="5894123"/>
            <a:ext cx="4586566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taxa de aprovação = Σ aprovado ÷ Σ apresentado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8841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 integração</a:t>
            </a:r>
            <a:endParaRPr lang="en-US" sz="5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9084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de fatos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82650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0819" y="5906311"/>
            <a:ext cx="1824653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estrelas separadas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51249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69419" y="5906311"/>
            <a:ext cx="182465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dimensões em comum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1984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38018" y="5906311"/>
            <a:ext cx="1032510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conformar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6831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86487" y="5906311"/>
            <a:ext cx="1472565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ligar os fatos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85357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Quem usa o quê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13345" y="1696773"/>
            <a:ext cx="121281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fato_equipe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915998" y="1696773"/>
            <a:ext cx="1598404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07973" y="169677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95500" y="2064200"/>
            <a:ext cx="75343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95500" y="2457900"/>
            <a:ext cx="17030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estabelecimento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95500" y="2851600"/>
            <a:ext cx="1460451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095500" y="3245300"/>
            <a:ext cx="179234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95500" y="3639000"/>
            <a:ext cx="1125825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032700"/>
            <a:ext cx="149570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26400"/>
            <a:ext cx="1226998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4820100"/>
            <a:ext cx="1097776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bugiganga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5213800"/>
            <a:ext cx="165308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ocupação (CBO)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73300" y="5754167"/>
            <a:ext cx="1719877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dimensão conforme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56064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Mesmo dado, códigos diferentes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4892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1689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59800" y="1657650"/>
            <a:ext cx="731520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 DW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2166056"/>
            <a:ext cx="662523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sexo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352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9320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 ·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149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117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65926" y="21166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724900" y="2168975"/>
            <a:ext cx="12839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 · 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966155"/>
            <a:ext cx="789890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idade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352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32013" y="2974913"/>
            <a:ext cx="156064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 + “meses”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149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11713" y="29749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anos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65926" y="29167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724900" y="2969075"/>
            <a:ext cx="203835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00-04 · Criança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62000" y="3766255"/>
            <a:ext cx="1335594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município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635250" y="3835188"/>
            <a:ext cx="81493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DATASUS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242866" y="37750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14950" y="3835188"/>
            <a:ext cx="53102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IBGE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89401" y="3775013"/>
            <a:ext cx="1091228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65926" y="37168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724900" y="37691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62000" y="4566356"/>
            <a:ext cx="885607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6352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932013" y="45751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149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11713" y="4575113"/>
            <a:ext cx="1677968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 (int)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965926" y="45169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724900" y="4569275"/>
            <a:ext cx="103251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0407011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62000" y="5366455"/>
            <a:ext cx="1631801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352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932013" y="5375213"/>
            <a:ext cx="1208553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 · 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149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11713" y="53752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965926" y="5317084"/>
            <a:ext cx="336847" cy="338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8724900" y="53693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536632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Hierarquias (≤)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69567"/>
            <a:ext cx="9270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2391992"/>
            <a:ext cx="1091228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ano_mes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620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55700" y="3274642"/>
            <a:ext cx="135949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trimestre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620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155700" y="4157292"/>
            <a:ext cx="122536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semestre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2050" y="45784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55700" y="5039942"/>
            <a:ext cx="55480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13250" y="1969567"/>
            <a:ext cx="17466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59300" y="2391992"/>
            <a:ext cx="68893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56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59300" y="3274642"/>
            <a:ext cx="554801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56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59300" y="4157292"/>
            <a:ext cx="1493629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capítulo X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13250" y="4994275"/>
            <a:ext cx="2750820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 ≤ pneumonias bacterianas ≤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ICSAP sim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16850" y="1969567"/>
            <a:ext cx="19443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52273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507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1492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9834097" y="2778125"/>
            <a:ext cx="1426508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0072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7846228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GRUPO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09917" y="3549438"/>
            <a:ext cx="871167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SUBGRUPO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243229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FORMA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32103" y="3549438"/>
            <a:ext cx="123049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PROCEDIMENTO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566705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Decisões de modelagem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73659"/>
            <a:ext cx="722442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sk_*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742287"/>
            <a:ext cx="194765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chave artificial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3107240"/>
            <a:ext cx="245057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 membro 0 “Não informado”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33317" y="19736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dim_junk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33317" y="2742287"/>
            <a:ext cx="140162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bugiganga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33317" y="3107240"/>
            <a:ext cx="168484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caráter · óbito · UTI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57084" y="1973659"/>
            <a:ext cx="86487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n_aih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57084" y="2742287"/>
            <a:ext cx="2809865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dimensão degenerada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57084" y="3107240"/>
            <a:ext cx="103349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 id_equipe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09650" y="40183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COUNT(*)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9650" y="4786987"/>
            <a:ext cx="1731883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fato sem fato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1009650" y="5151940"/>
            <a:ext cx="106405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fato_equipe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33317" y="4018359"/>
            <a:ext cx="1862415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sexo × faixa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33317" y="4786987"/>
            <a:ext cx="199207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mini-dimensão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33317" y="5151940"/>
            <a:ext cx="151905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57084" y="4018359"/>
            <a:ext cx="157734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residência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57084" y="4786987"/>
            <a:ext cx="230367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demanda ≠ oferta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257084" y="5151940"/>
            <a:ext cx="220991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quem mora × onde atende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0877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consultas OLAP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20750" y="4663246"/>
            <a:ext cx="9151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20590" y="4663246"/>
            <a:ext cx="124216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7689" y="4663246"/>
            <a:ext cx="146001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12828" y="4663246"/>
            <a:ext cx="69733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14628" y="4663246"/>
            <a:ext cx="1460015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0032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020294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residentes: mês → trimestre → ano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icsap = Sim · residência = São Carlos · Σ qtd_internacoes · SIH/SUS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3678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456638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Produção: grupo → subgrupo → procedimento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913913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fato_producao_ambulatorial · estabelecimentos em São Carlos · Σ qtd_aprovada · SIA/SUS 2023–2024 · nomes: SIGTAP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8673991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idosos em 2024, por causa e sexo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681221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slice: ano = 2024 · dice: ciclo de vida = idoso, ICSAP = sim · residentes · SIH/SUS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7602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031805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Causa × ciclo de vida, e girado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8096048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dim_diagnostico × dim_perfil_paciente · Σ qtd_internacoes · residentes,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7531179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× uso × internações, mês a mês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cobertura = eSF × 3.450 ÷ 254.857 · taxa = ICSAP ÷ 254.857 × 10.000 · CNES, SIA e SIH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553279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 que o modelo não resolve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425700"/>
            <a:ext cx="2012374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SISAB ≠ SIA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2828352"/>
            <a:ext cx="2600642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das UBS = 0 no SIA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57950" y="2425700"/>
            <a:ext cx="2988965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cobertura estimada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6457950" y="2828352"/>
            <a:ext cx="2326918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23 eSF × 3.450, constante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2350" y="4216400"/>
            <a:ext cx="203998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022350" y="4619052"/>
            <a:ext cx="3263126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 de apresentação, não do evento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57950" y="4216400"/>
            <a:ext cx="202732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coordenadas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6457950" y="4619052"/>
            <a:ext cx="2421434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imprecisas na API do CNES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5476813"/>
            <a:ext cx="5198407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próximo passo → SISAB e mais anos (parte 2)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900174"/>
            <a:ext cx="4877861" cy="911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7800" spc="-94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Obrigado</a:t>
            </a:r>
            <a:pPr algn="l" indent="0" marL="0">
              <a:lnSpc>
                <a:spcPts val="7176"/>
              </a:lnSpc>
              <a:buNone/>
            </a:pPr>
            <a:r>
              <a:rPr lang="en-US" sz="7800" i="1" spc="-94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78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3031589"/>
            <a:ext cx="1926372" cy="445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anken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Atenção primária à saúde em São Carlos</dc:title>
  <dc:subject>PptxGenJS Presentation</dc:subject>
  <dc:creator>Grupo SCC0245</dc:creator>
  <cp:lastModifiedBy>Grupo SCC0245</cp:lastModifiedBy>
  <cp:revision>1</cp:revision>
  <dcterms:created xsi:type="dcterms:W3CDTF">2026-10-28T18:54:55Z</dcterms:created>
  <dcterms:modified xsi:type="dcterms:W3CDTF">2026-10-28T18:54:55Z</dcterms:modified>
</cp:coreProperties>
</file>