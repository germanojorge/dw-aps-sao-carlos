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Problema e fontes" id="{cfb84d34-7ea3-33a3-4725-0bd198d66819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2. Processos e estrelas" id="{999107fb-3a0c-0349-1ebf-fae18634eeb1}">
          <p14:sldIdLst>
            <p14:sldId id="262"/>
            <p14:sldId id="263"/>
            <p14:sldId id="264"/>
            <p14:sldId id="265"/>
            <p14:sldId id="266"/>
          </p14:sldIdLst>
        </p14:section>
        <p14:section name="3. Constelação e integração" id="{5dbc7373-01f1-73ca-3dd5-b83125645d9a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4. Consultas OLAP" id="{ccb7b90b-e781-c679-e720-2bb551a8b4f4}">
          <p14:sldIdLst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grupo e o tema em uma frase: um data warehouse que junta oferta de equipes, atendimentos e internações evitáveis em São Carlos. O contorno do mapa é o município oficial (IBGE).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roteiro: quatro partes, cerca de cinco minutos cada. Dizer quem apresenta o quê.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atenção básica (UBS e USF) é a porta de entrada do SUS e acompanha a população do território. Quando funciona, hipertensão, diabetes, asma e infecção urinária são controladas no posto. Quando falha, viram internação. Essas internações evitáveis são as ICSAP, com lista oficial na Portaria SAS/MS 221/2008, e são o indicador clássico de efetividade da atenção básica.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Recorte: município de São Carlos, 254.857 habitantes no Censo 2022 (conferido na API do IBGE). A rede de atenção primária tem 36 unidades no CNES, cada quadrado é uma. São dois modelos: 23 USF, cada uma com uma equipe de Saúde da Família (eSF), que tem território e agentes comunitários; e 11 UBS tradicionais, cada uma com uma equipe de Atenção Primária (eAP), mais enxuta. Duas unidades não têm nem eSF nem eAP (eMulti Antenor Garcia e UBS Faga). Os dados são de dezembro de 2024 e vêm do código CNES, não de coordenadas: as coordenadas da API do CNES põem quase metade das unidades no centro da cidade, por isso não usamos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pergunta que orienta todo o modelo. Para respondê-la precisamos olhar a oferta (equipes), o uso (produção ambulatorial) e o resultado (internações evitáveis) na mesma linha do tempo. É isso que a constelação de fatos e o drill-across permitem.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fontes públicas e oficiais. Três principais do DATASUS: CNES (equipes e estabelecimentos), SIH (uma linha por internação, a AIH) e SIA (produção ambulatorial). Duas auxiliares: IBGE para nomes e regiões dos municípios e a API do CNES para nome, bairro e coordenadas. Baixamos com o PySUS; os arquivos são estaduais e mensais, então filtramos São Carlos. Período: 2023 e 2024, 24 competências.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Passagem para a parte 2: os três processos de negócio e as estrelas.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notação vista em aula: cada data mart tem uma demanda, um foco (as medidas) e perspectivas (as dimensões). Oferta de equipes, internações e produção ambulatorial. Cada um vira uma tabela de fatos.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Estrela 1, oferta de equipes. Grão: uma equipe ativa em um estabelecimento em um mês, uma fotografia mensal. Não há medida numérica: é uma tabela de fatos sem fato, e o número de equipes sai da contagem de linhas. O id da equipe fica na própria tabela de fatos como dimensão degenerada. A contagem é semiaditiva: soma entre estabelecimentos e tipos, mas não no tempo (a mesma equipe está em janeiro e em fevereiro); entre meses, usa-se a média ou o último mês.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Estrela 2, internações (SIH). Grão: uma AIH, ou seja, uma internação. Medidas aditivas: quantidade, dias de permanência e valor. A média de permanência é derivada e não aditiva. Caráter do atendimento, óbito e UTI viraram uma tabela bugiganga. O número da AIH é dimensão degenerada. AIHs de continuação, de longa permanência, são descartadas para não contar a mesma internação duas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Estrela 3, produção ambulatorial (SIA). O arquivo público já vem parcialmente agregado, então o grão é estabelecimento × procedimento × mês × perfil do paciente × município de residência × ocupação (CBO). Quatro medidas aditivas. A taxa de aprovação é derivada e não aditiva: soma do aprovado dividida pela soma do apresentado, nunca somando taxas.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Passagem para a parte 3: como as três estrelas viram uma constelação e como os dados foram integrados.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passos: modelamos cada estrela separadamente; identificamos as dimensões que aparecem em mais de uma; tornamos essas dimensões conformes (mesma chave, mesmos atributos, mesmos valores); e ligamos os três fatos às mesmas tabelas. As dimensões em destaque são compartilhadas: tempo, estabelecimento, procedimento, perfil do paciente e localidade.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mesma informação em forma de matriz: linhas são as dimensões, colunas os fatos. As cinco primeiras linhas aparecem em mais de um fato e são as dimensões conformes. Tempo e estabelecimento são as únicas que aparecem nos três, e é por elas que o drill-across acontece.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Integração: o mesmo dado chega de fontes diferentes com códigos diferentes, e escolhemos uma única representação no DW. Sexo: o SIH usa 1 e 3, o SIA usa M e F; no DW fica M, F e I de ignorado. Idade: o SIH manda valor mais unidade (dias, meses, anos); vira faixa etária. Município: DATASUS usa 6 dígitos e IBGE 7; ficamos com 6. CNES às vezes perde os zeros à esquerda; padronizamos 7 dígitos. Competência: o SIH separa ano e mês; o resto usa AAAAMM.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hierarquias usam o operador de ordenação parcial: A ≤ B quer dizer que A é mais detalhado e cada A pertence a um único B. No tempo, mês, trimestre, semestre e ano. No diagnóstico há duas hierarquias: a da CID (código, categoria, capítulo) e a de ICSAP (código, grupo ICSAP, sim/não). No procedimento, o próprio código SIGTAP é hierárquico: os prefixos de 2, 4 e 6 dígitos são grupo, subgrupo e forma de organização.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aspectos de modelagem pedidos no enunciado: chave artificial em todas as dimensões, com um membro 0 'Não informado' para não perder fatos; tabela bugiganga; dimensões degeneradas; tabela de fatos sem fato. Mais duas decisões nossas: a mini-dimensão de perfil (sexo × faixa etária) e filtrar demanda por residência e oferta pelo município do estabelecimento.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Passagem para a parte 4: as cinco consultas, uma por operação OLAP.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1, roll-up no tempo, com dados reais do SIH. Foram 5.255 internações por condições sensíveis à atenção primária de residentes em São Carlos em dois anos, 16% de todas as internações de residentes. No mês, o maior valor é dezembro de 2023, com 291, e o menor é janeiro de 2024, com 167: o mês aqui é o de processamento da AIH, então parte dessa oscilação é o ritmo de apresentação dos hospitais. Subindo para trimestre a série fica estável, entre 572 e 728. No ano: 2.700 em 2023 e 2.555 em 2024, queda de cerca de 5%. Fato: internação; filtro ICSAP = sim e residência = São Carlos; medida: soma de qtd_internacoes.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2, drill-down no procedimento, com dados reais do SIA. Nos estabelecimentos de São Carlos, o grupo com mais procedimentos aprovados é o 02, finalidade diagnóstica, com 1,8 milhão em dois anos; o 03, procedimentos clínicos, vem depois em quantidade, mas tem o maior valor aprovado, cerca de R$ 31 milhões. Descendo no grupo 02, o subgrupo de laboratório clínico concentra 1,4 milhão, e no procedimento aparecem hemograma completo, com 127 mil, e dosagem de creatinina, com 102 mil. Os nomes vêm da tabela SIGTAP.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3, slice and dice. Slice: ano = 2024. Dice: ciclo de vida = idoso e diagnóstico ICSAP. Foram 1.358 internações evitáveis de idosos residentes em 2024. As doenças cerebrovasculares lideram, com 154 mulheres e 170 homens, seguidas da insuficiência cardíaca, com 128 e 114. A última coluna é a média de dias: doenças pulmonares ficam 9,5 dias e insuficiência cardíaca 8, as internações mais longas. São condições crônicas acompanhadas pela atenção básica.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4, pivot: ICSAP de residentes em 2023 e 2024, primeiro com causas nas linhas e ciclo de vida nas colunas, depois rotacionada. Na primeira leitura, cada causa mostra em que fase da vida pesa: as circulatórias são quase só de adultos e idosos, com 621 idosos por doença cerebrovascular. Na leitura girada, cada fase da vida mostra suas causas: nas crianças, as doenças pulmonares dominam, com 329. Isso orienta programas por público e linhas de cuidado por doença.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5, drill-across, a pergunta central, com os três fatos reais. Cada fato é agregado sozinho por mês e os resultados são juntados por ano_mes, a dimensão conforme. Oferta: 23 equipes de Saúde da Família em todos os meses, cobertura estimada de 31,1%. Somando as 11 a 13 equipes de Atenção Primária das UBS tradicionais, contadas como equipes inteiras, o teto fica entre 46% e 48,7%: a cobertura real da atenção básica está entre as duas linhas. O gráfico não mostra a produção da atenção primária: as UBS não lançam produção no SIA (zero em todos os meses), porque desde o e-SUS APS ela vai para o SISAB, que não usamos. Internações: a taxa de ICSAP varia entre 6,55 e 11,42 por 10 mil habitantes e termina 2024 em 8,40. Com a oferta constante, ainda não dá para relacionar cobertura e internações; isso pede mais anos e os dados do SISAB.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abrir para perguntas. Retomar a frase: três processos, uma constelação, uma pergunta de política pública para São Carlos.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1150417"/>
            <a:ext cx="397212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SCC0245 · TRABALHO PRÁTICO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1575562"/>
            <a:ext cx="6930906" cy="2243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888"/>
              </a:lnSpc>
              <a:buNone/>
            </a:pPr>
            <a:r>
              <a:rPr lang="en-US" sz="6400" spc="-77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Atenção primária</a:t>
            </a:r>
            <a:endParaRPr lang="en-US" sz="6400" dirty="0"/>
          </a:p>
          <a:p>
            <a:pPr algn="l" indent="0" marL="0">
              <a:lnSpc>
                <a:spcPts val="5888"/>
              </a:lnSpc>
              <a:buNone/>
            </a:pPr>
            <a:r>
              <a:rPr lang="en-US" sz="6400" spc="-77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à saúde em</a:t>
            </a:r>
            <a:endParaRPr lang="en-US" sz="6400" dirty="0"/>
          </a:p>
          <a:p>
            <a:pPr algn="l" indent="0" marL="0">
              <a:lnSpc>
                <a:spcPts val="5888"/>
              </a:lnSpc>
              <a:buNone/>
            </a:pPr>
            <a:r>
              <a:rPr lang="en-US" sz="6400" i="1" spc="-77" kern="0" dirty="0">
                <a:solidFill>
                  <a:srgbClr val="5560E5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São Carlos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4034155"/>
            <a:ext cx="7293253" cy="5829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Um data warehouse para ligar equipes, atendimentos e internações</a:t>
            </a:r>
            <a:endParaRPr lang="en-US" sz="1700" dirty="0"/>
          </a:p>
          <a:p>
            <a:pPr algn="l" indent="0" marL="0">
              <a:lnSpc>
                <a:spcPts val="2295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evitáveis.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20750" y="4928865"/>
            <a:ext cx="797858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 fatos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926630" y="4928865"/>
            <a:ext cx="1166753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9 dimensões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267869" y="4928865"/>
            <a:ext cx="1627763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5 consultas OLAP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2000" y="5665210"/>
            <a:ext cx="7503749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spc="8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IVAN SARDON  ·  VINÍCIUS MOROTTI  ·  GERMANO JORGE  ·  MATHEUS RODRIGUES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1865253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Roteiro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022350" y="2101850"/>
            <a:ext cx="1056084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01</a:t>
            </a:r>
            <a:endParaRPr lang="en-US" sz="5500" dirty="0"/>
          </a:p>
        </p:txBody>
      </p:sp>
      <p:sp>
        <p:nvSpPr>
          <p:cNvPr id="6" name="Text 4"/>
          <p:cNvSpPr txBox="1"/>
          <p:nvPr/>
        </p:nvSpPr>
        <p:spPr>
          <a:xfrm>
            <a:off x="1022350" y="3486150"/>
            <a:ext cx="2240369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Problema e fontes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740150" y="2101850"/>
            <a:ext cx="1056084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02</a:t>
            </a:r>
            <a:endParaRPr lang="en-US" sz="5500" dirty="0"/>
          </a:p>
        </p:txBody>
      </p:sp>
      <p:sp>
        <p:nvSpPr>
          <p:cNvPr id="8" name="Text 6"/>
          <p:cNvSpPr txBox="1"/>
          <p:nvPr/>
        </p:nvSpPr>
        <p:spPr>
          <a:xfrm>
            <a:off x="3740150" y="3486150"/>
            <a:ext cx="1466562" cy="55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Processos e</a:t>
            </a:r>
            <a:endParaRPr lang="en-US" sz="20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estrelas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57950" y="2101850"/>
            <a:ext cx="1056084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03</a:t>
            </a:r>
            <a:endParaRPr lang="en-US" sz="5500" dirty="0"/>
          </a:p>
        </p:txBody>
      </p:sp>
      <p:sp>
        <p:nvSpPr>
          <p:cNvPr id="10" name="Text 8"/>
          <p:cNvSpPr txBox="1"/>
          <p:nvPr/>
        </p:nvSpPr>
        <p:spPr>
          <a:xfrm>
            <a:off x="6457950" y="3486150"/>
            <a:ext cx="1756877" cy="55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Constelação e</a:t>
            </a:r>
            <a:endParaRPr lang="en-US" sz="20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integração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9175750" y="2101850"/>
            <a:ext cx="1056084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04</a:t>
            </a:r>
            <a:endParaRPr lang="en-US" sz="5500" dirty="0"/>
          </a:p>
        </p:txBody>
      </p:sp>
      <p:sp>
        <p:nvSpPr>
          <p:cNvPr id="12" name="Text 10"/>
          <p:cNvSpPr txBox="1"/>
          <p:nvPr/>
        </p:nvSpPr>
        <p:spPr>
          <a:xfrm>
            <a:off x="9175750" y="3486150"/>
            <a:ext cx="2104817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Consultas OLAP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27060" y="5468417"/>
            <a:ext cx="70563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 min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6278026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porta de entrada do SUS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984250" y="2565400"/>
            <a:ext cx="1435239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UBS / USF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84250" y="2904296"/>
            <a:ext cx="2033984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acompanha o território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164792" y="2255829"/>
            <a:ext cx="1862416" cy="18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controla no posto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985250" y="2565400"/>
            <a:ext cx="1981488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Paciente estável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985250" y="2904296"/>
            <a:ext cx="1555729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cuidado contínuo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16252" y="4033829"/>
            <a:ext cx="1359496" cy="180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quando falha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985250" y="4343400"/>
            <a:ext cx="236020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000" spc="-10" kern="0" dirty="0">
                <a:solidFill>
                  <a:srgbClr val="F0EBDE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Internação evitável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985250" y="4682296"/>
            <a:ext cx="643751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BCBB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ICSAP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95350" y="5665267"/>
            <a:ext cx="116664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hipertensão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172990" y="5665267"/>
            <a:ext cx="89008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diabetes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99209" y="5665267"/>
            <a:ext cx="52129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asma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890169" y="5665267"/>
            <a:ext cx="1996549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pneumonia bacteriana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922268" y="5665267"/>
            <a:ext cx="1719878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infecção urinária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02848" y="5665267"/>
            <a:ext cx="347169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Portaria SAS/MS 221/2008 · 19 grupos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6190168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rede de </a:t>
            </a:r>
            <a:pPr algn="l" indent="0" marL="0">
              <a:lnSpc>
                <a:spcPts val="3496"/>
              </a:lnSpc>
              <a:buNone/>
            </a:pPr>
            <a:r>
              <a:rPr lang="en-US" sz="3800" i="1" spc="-46" kern="0" dirty="0">
                <a:solidFill>
                  <a:srgbClr val="5560E5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atenção primária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636000" y="1584960"/>
            <a:ext cx="3085335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5600" spc="-67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254.857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8636000" y="2298477"/>
            <a:ext cx="327428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HABITANTES · CENSO 2022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636000" y="2853670"/>
            <a:ext cx="1072455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5600" spc="-67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36</a:t>
            </a:r>
            <a:endParaRPr lang="en-US" sz="5600" dirty="0"/>
          </a:p>
        </p:txBody>
      </p:sp>
      <p:sp>
        <p:nvSpPr>
          <p:cNvPr id="8" name="Text 6"/>
          <p:cNvSpPr txBox="1"/>
          <p:nvPr/>
        </p:nvSpPr>
        <p:spPr>
          <a:xfrm>
            <a:off x="8636000" y="3567187"/>
            <a:ext cx="241416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UNIDADES NO CNES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36000" y="4119840"/>
            <a:ext cx="3098760" cy="3378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cada quadrado = uma unidade · equipes</a:t>
            </a:r>
            <a:endParaRPr lang="en-US" sz="950" dirty="0"/>
          </a:p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ativas em dez/2024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05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1340917"/>
            <a:ext cx="2463933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PERGUNTA CENTRAL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1709166"/>
            <a:ext cx="9175492" cy="21656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Mais atenção básica</a:t>
            </a:r>
            <a:endParaRPr lang="en-US" sz="5800" dirty="0"/>
          </a:p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significa </a:t>
            </a:r>
            <a:pPr algn="l" indent="0" marL="0">
              <a:lnSpc>
                <a:spcPts val="5684"/>
              </a:lnSpc>
              <a:buNone/>
            </a:pPr>
            <a:r>
              <a:rPr lang="en-US" sz="5800" i="1" spc="-70" kern="0" dirty="0">
                <a:solidFill>
                  <a:srgbClr val="5560E5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menos internações</a:t>
            </a:r>
            <a:endParaRPr lang="en-US" sz="5800" dirty="0"/>
          </a:p>
          <a:p>
            <a:pPr algn="l" indent="0" marL="0">
              <a:lnSpc>
                <a:spcPts val="5684"/>
              </a:lnSpc>
              <a:buNone/>
            </a:pPr>
            <a:r>
              <a:rPr lang="en-US" sz="5800" i="1" spc="-70" kern="0" dirty="0">
                <a:solidFill>
                  <a:srgbClr val="5560E5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evitáveis?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1308100" y="4572000"/>
            <a:ext cx="91016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Oferta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08100" y="4833929"/>
            <a:ext cx="1224379" cy="18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equipes ativas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590726" y="4572000"/>
            <a:ext cx="60871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Uso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90726" y="4833929"/>
            <a:ext cx="1170682" cy="18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atendimentos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24537" y="4572000"/>
            <a:ext cx="130285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Resultado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824537" y="4833929"/>
            <a:ext cx="605879" cy="18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ICSAP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06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7750988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Cinco fontes, um data warehouse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492250" y="2647295"/>
            <a:ext cx="809863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CNES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92250" y="2900437"/>
            <a:ext cx="206214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equipes e estabelecimentos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492250" y="3528655"/>
            <a:ext cx="1105853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SIH-SUS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92250" y="3781798"/>
            <a:ext cx="1306999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internações (AIH)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492250" y="4410015"/>
            <a:ext cx="1080205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SIA-SUS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492250" y="4663158"/>
            <a:ext cx="172446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produção ambulatorial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48225" y="3035300"/>
            <a:ext cx="59245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PySUS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68105" y="3235325"/>
            <a:ext cx="164860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filtro São Carlos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608115" y="3435350"/>
            <a:ext cx="1120587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2023 – 2024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871295" y="3708400"/>
            <a:ext cx="821542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spc="-34" kern="0" dirty="0">
                <a:solidFill>
                  <a:srgbClr val="F0EBDE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DW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6935390" y="4109261"/>
            <a:ext cx="680532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DuckDB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493250" y="2995950"/>
            <a:ext cx="737612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IBGE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493250" y="3249092"/>
            <a:ext cx="93843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localidades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493250" y="3877310"/>
            <a:ext cx="1271309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API CNES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493250" y="4130452"/>
            <a:ext cx="1175266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nome · bairro ·</a:t>
            </a:r>
            <a:endParaRPr lang="en-US" sz="1100" dirty="0"/>
          </a:p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coordenadas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07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25500"/>
            <a:ext cx="3273931" cy="241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000"/>
              </a:lnSpc>
              <a:buNone/>
            </a:pPr>
            <a:r>
              <a:rPr lang="en-US" sz="19000" spc="-228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02</a:t>
            </a:r>
            <a:endParaRPr lang="en-US" sz="190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3550666"/>
            <a:ext cx="9291836" cy="7218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Três processos de negócio</a:t>
            </a:r>
            <a:endParaRPr lang="en-US" sz="5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08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4317315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Focos de interesse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617622" y="1723196"/>
            <a:ext cx="3658324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563"/>
              </a:lnSpc>
              <a:buNone/>
            </a:pPr>
            <a:r>
              <a:rPr lang="en-US" sz="1300" u="sng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Demanda</a:t>
            </a:r>
            <a:pPr algn="ctr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: acompanhar a oferta de equipes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53143" y="2571750"/>
            <a:ext cx="1587381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Data Mart 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22350" y="2987675"/>
            <a:ext cx="2021652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Foco: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nº de equipes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22350" y="3419475"/>
            <a:ext cx="3120152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Perspectivas: estabelecimento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tipo de equipe · mês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765893" y="1723196"/>
            <a:ext cx="2660016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563"/>
              </a:lnSpc>
              <a:buNone/>
            </a:pPr>
            <a:r>
              <a:rPr lang="en-US" sz="1300" u="sng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Demanda</a:t>
            </a:r>
            <a:pPr algn="ctr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: analisar internações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302210" y="2571750"/>
            <a:ext cx="1587381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Data Mart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671417" y="2987675"/>
            <a:ext cx="3057942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Foco: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internações · dias · valor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71417" y="3419475"/>
            <a:ext cx="3142089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Perspectivas: diagnóstico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paciente · residência · hospital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procedimento · mês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340075" y="1723196"/>
            <a:ext cx="2810083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563"/>
              </a:lnSpc>
              <a:buNone/>
            </a:pPr>
            <a:r>
              <a:rPr lang="en-US" sz="1300" u="sng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Demanda</a:t>
            </a:r>
            <a:pPr algn="ctr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: analisar atendimentos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951377" y="2571750"/>
            <a:ext cx="158738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Data Mart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320584" y="2987675"/>
            <a:ext cx="280037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Foco: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qtd e valor aprovados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0584" y="3419475"/>
            <a:ext cx="2964845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Perspectivas: procedimento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profissional · paciente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residência · estabelecimento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mês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09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05917"/>
            <a:ext cx="2267916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ESTRELA 1 · CNES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965454"/>
            <a:ext cx="4211121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Oferta de equipes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10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05917"/>
            <a:ext cx="259645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ESTRELA 2 · SIH-SUS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965454"/>
            <a:ext cx="2860070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Internações</a:t>
            </a:r>
            <a:endParaRPr lang="en-US" sz="3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11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05917"/>
            <a:ext cx="259230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ESTRELA 3 · SIA-SUS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965454"/>
            <a:ext cx="5449431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Produção ambulatorial</a:t>
            </a:r>
            <a:endParaRPr lang="en-US" sz="3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12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25500"/>
            <a:ext cx="3273931" cy="241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000"/>
              </a:lnSpc>
              <a:buNone/>
            </a:pPr>
            <a:r>
              <a:rPr lang="en-US" sz="19000" spc="-228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03</a:t>
            </a:r>
            <a:endParaRPr lang="en-US" sz="190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3550666"/>
            <a:ext cx="8884196" cy="7218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Constelação e integração</a:t>
            </a:r>
            <a:endParaRPr lang="en-US" sz="5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13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4908421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Constelação de fatos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82650" y="5906311"/>
            <a:ext cx="240477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00819" y="5906311"/>
            <a:ext cx="1824653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estrelas separadas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851249" y="5906311"/>
            <a:ext cx="240477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969419" y="5906311"/>
            <a:ext cx="1824652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dimensões em comum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819848" y="5906311"/>
            <a:ext cx="240477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938018" y="5906311"/>
            <a:ext cx="1032510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conformar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068318" y="5906311"/>
            <a:ext cx="240477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4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186487" y="5906311"/>
            <a:ext cx="1472565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ligar os fatos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14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3853577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Quem usa o quê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013345" y="1696773"/>
            <a:ext cx="1212811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fato_equipe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915998" y="1696773"/>
            <a:ext cx="1598404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fato_internacao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107973" y="1696773"/>
            <a:ext cx="1405553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fato_producao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095500" y="2064200"/>
            <a:ext cx="753437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tempo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095500" y="2457900"/>
            <a:ext cx="170307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estabelecimento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095500" y="2851600"/>
            <a:ext cx="1460451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procedimento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095500" y="3245300"/>
            <a:ext cx="1792347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perfil do paciente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095500" y="3639000"/>
            <a:ext cx="1125825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localidade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4032700"/>
            <a:ext cx="1495703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tipo de equipe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057400" y="4426400"/>
            <a:ext cx="1226998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diagnóstico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057400" y="4820100"/>
            <a:ext cx="1097776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bugiganga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057400" y="5213800"/>
            <a:ext cx="1653083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ocupação (CBO)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273300" y="5754167"/>
            <a:ext cx="1719877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dimensão conforme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15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7560647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Mesmo dado, códigos diferentes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2489200" y="1657650"/>
            <a:ext cx="963255" cy="15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1000" spc="120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FONTE 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168900" y="1657650"/>
            <a:ext cx="963255" cy="15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1000" spc="120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FONTE B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559800" y="1657650"/>
            <a:ext cx="731520" cy="15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1000" spc="120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NO DW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62000" y="2166056"/>
            <a:ext cx="662523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sexo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635250" y="22349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932013" y="2174813"/>
            <a:ext cx="856575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 · 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314950" y="22349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SIA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611713" y="2174813"/>
            <a:ext cx="856575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M · F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965926" y="2116684"/>
            <a:ext cx="336847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724900" y="2168975"/>
            <a:ext cx="128397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M · F · I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2966155"/>
            <a:ext cx="789890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idade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635250" y="30350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SIH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932013" y="2974913"/>
            <a:ext cx="1560641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7 + “meses”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14950" y="30350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SIA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611713" y="2974913"/>
            <a:ext cx="973901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 anos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965926" y="2916784"/>
            <a:ext cx="336847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724900" y="2969075"/>
            <a:ext cx="203835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00-04 · Criança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62000" y="3766255"/>
            <a:ext cx="1335594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município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2635250" y="3835188"/>
            <a:ext cx="814935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DATASUS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242866" y="3775013"/>
            <a:ext cx="973901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354890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314950" y="3835188"/>
            <a:ext cx="531023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IBGE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689401" y="3775013"/>
            <a:ext cx="1091228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3548906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965926" y="3716884"/>
            <a:ext cx="336847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8724900" y="3769175"/>
            <a:ext cx="90678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354890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62000" y="4566356"/>
            <a:ext cx="885607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CNES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2635250" y="46352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SIH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2932013" y="4575113"/>
            <a:ext cx="973901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407011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314950" y="46352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API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611713" y="4575113"/>
            <a:ext cx="1677968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407011 (int)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965926" y="4516984"/>
            <a:ext cx="336847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724900" y="4569275"/>
            <a:ext cx="103251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0407011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62000" y="5366455"/>
            <a:ext cx="1631801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competência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2635250" y="54353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SIH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932013" y="5375213"/>
            <a:ext cx="1208553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2024 · 1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314950" y="54353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SIA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5611713" y="5375213"/>
            <a:ext cx="973901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202401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965926" y="5317084"/>
            <a:ext cx="336847" cy="338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42" name="Text 40"/>
          <p:cNvSpPr txBox="1"/>
          <p:nvPr/>
        </p:nvSpPr>
        <p:spPr>
          <a:xfrm>
            <a:off x="8724900" y="5369375"/>
            <a:ext cx="90678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202401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16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3536632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Hierarquias (≤)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009650" y="1969567"/>
            <a:ext cx="92708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TEMPO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55700" y="2391992"/>
            <a:ext cx="1091228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ano_mes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62050" y="281313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155700" y="3274642"/>
            <a:ext cx="1359495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trimestre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62050" y="369578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155700" y="4157292"/>
            <a:ext cx="1225362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semestre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62050" y="457843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155700" y="5039942"/>
            <a:ext cx="554802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ano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413250" y="1969567"/>
            <a:ext cx="17466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DIAGNÓSTICO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59300" y="2391992"/>
            <a:ext cx="688935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J181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65650" y="281313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4559300" y="3274642"/>
            <a:ext cx="554801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J18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65650" y="369578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59300" y="4157292"/>
            <a:ext cx="1493629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capítulo X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413250" y="4994275"/>
            <a:ext cx="2750820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J181 ≤ pneumonias bacterianas ≤</a:t>
            </a: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ICSAP sim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816850" y="1969567"/>
            <a:ext cx="1944358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PROCEDIMENTO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52273" y="2778125"/>
            <a:ext cx="789454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8450774" y="2778125"/>
            <a:ext cx="789454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</a:t>
            </a:r>
            <a:endParaRPr lang="en-US" sz="3800" dirty="0"/>
          </a:p>
        </p:txBody>
      </p:sp>
      <p:sp>
        <p:nvSpPr>
          <p:cNvPr id="23" name="Text 21"/>
          <p:cNvSpPr txBox="1"/>
          <p:nvPr/>
        </p:nvSpPr>
        <p:spPr>
          <a:xfrm>
            <a:off x="9149274" y="2778125"/>
            <a:ext cx="789454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</a:t>
            </a:r>
            <a:endParaRPr lang="en-US" sz="3800" dirty="0"/>
          </a:p>
        </p:txBody>
      </p:sp>
      <p:sp>
        <p:nvSpPr>
          <p:cNvPr id="24" name="Text 22"/>
          <p:cNvSpPr txBox="1"/>
          <p:nvPr/>
        </p:nvSpPr>
        <p:spPr>
          <a:xfrm>
            <a:off x="9834097" y="2778125"/>
            <a:ext cx="1426508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0072</a:t>
            </a:r>
            <a:endParaRPr lang="en-US" sz="3800" dirty="0"/>
          </a:p>
        </p:txBody>
      </p:sp>
      <p:sp>
        <p:nvSpPr>
          <p:cNvPr id="25" name="Text 23"/>
          <p:cNvSpPr txBox="1"/>
          <p:nvPr/>
        </p:nvSpPr>
        <p:spPr>
          <a:xfrm>
            <a:off x="7846228" y="3549438"/>
            <a:ext cx="601643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03"/>
              </a:lnSpc>
              <a:buNone/>
            </a:pPr>
            <a:r>
              <a:rPr lang="en-US" sz="900" spc="5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GRUPO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409917" y="3549438"/>
            <a:ext cx="871167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03"/>
              </a:lnSpc>
              <a:buNone/>
            </a:pPr>
            <a:r>
              <a:rPr lang="en-US" sz="900" spc="5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SUBGRUPO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9243229" y="3549438"/>
            <a:ext cx="601643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03"/>
              </a:lnSpc>
              <a:buNone/>
            </a:pPr>
            <a:r>
              <a:rPr lang="en-US" sz="900" spc="5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FORMA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9932103" y="3549438"/>
            <a:ext cx="1230495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03"/>
              </a:lnSpc>
              <a:buNone/>
            </a:pPr>
            <a:r>
              <a:rPr lang="en-US" sz="900" spc="5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PROCEDIMENTO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17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5667057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Decisões de modelagem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009650" y="1973659"/>
            <a:ext cx="722442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sk_*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09650" y="2742287"/>
            <a:ext cx="1947654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chave artificial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009650" y="3107240"/>
            <a:ext cx="2450574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+ membro 0 “Não informado”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633317" y="1973659"/>
            <a:ext cx="1292374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dim_junk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33317" y="2742287"/>
            <a:ext cx="1401624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bugiganga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4633317" y="3107240"/>
            <a:ext cx="1684844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caráter · óbito · UTI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257084" y="1973659"/>
            <a:ext cx="864870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n_aih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57084" y="2742287"/>
            <a:ext cx="2809865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dimensão degenerada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8257084" y="3107240"/>
            <a:ext cx="1033492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 id_equipe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009650" y="4018359"/>
            <a:ext cx="1292374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COUNT(*)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009650" y="4786987"/>
            <a:ext cx="1731883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fato sem fato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1009650" y="5151940"/>
            <a:ext cx="1064052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fato_equipe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633317" y="4018359"/>
            <a:ext cx="1862415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sexo × faixa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33317" y="4786987"/>
            <a:ext cx="1992074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mini-dimensão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4633317" y="5151940"/>
            <a:ext cx="1519059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perfil do paciente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257084" y="4018359"/>
            <a:ext cx="1577340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residência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257084" y="4786987"/>
            <a:ext cx="2303671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demanda ≠ oferta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257084" y="5151940"/>
            <a:ext cx="2209919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quem mora × onde atende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18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25500"/>
            <a:ext cx="3273931" cy="241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000"/>
              </a:lnSpc>
              <a:buNone/>
            </a:pPr>
            <a:r>
              <a:rPr lang="en-US" sz="19000" spc="-228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04</a:t>
            </a:r>
            <a:endParaRPr lang="en-US" sz="190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3550666"/>
            <a:ext cx="8087796" cy="7218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Cinco consultas OLAP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920750" y="4663246"/>
            <a:ext cx="915184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roll-up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020590" y="4663246"/>
            <a:ext cx="1242169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drill-down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417689" y="4663246"/>
            <a:ext cx="1460014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slice &amp; dice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012828" y="4663246"/>
            <a:ext cx="697339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pivot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14628" y="4663246"/>
            <a:ext cx="1460015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drill-across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19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10032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ROLL-UP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9020294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ICSAP de residentes: mês → trimestre → ano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7775089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fato_internacao · icsap = Sim · residência = São Carlos · Σ qtd_internacoes · SIH/SUS 2023–2024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1367899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DRILL-DOWN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9456638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Produção: grupo → subgrupo → procedimento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9139136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fato_producao_ambulatorial · estabelecimentos em São Carlos · Σ qtd_aprovada · SIA/SUS 2023–2024 · nomes: SIGTAP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21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161095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SLICE &amp; DICE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8673991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ICSAP de idosos em 2024, por causa e sexo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681221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slice: ano = 2024 · dice: ciclo de vida = idoso, ICSAP = sim · residentes · SIH/SUS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22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76020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PIVOT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6031805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Causa × ciclo de vida, e girado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8096048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fato_internacao · dim_diagnostico × dim_perfil_paciente · Σ qtd_internacoes · residentes, 2023–2024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23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161095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DRILL-ACROSS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6380946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Oferta × internações, mês a mês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11305526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cobertura = equipes × 3.450 ÷ 254.857 (eAP como equipe inteira = teto) · taxa = ICSAP ÷ 254.857 × 10.000 · produção das UBS: SISAB, não SIA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1900174"/>
            <a:ext cx="4877861" cy="911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7800" spc="-94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Obrigado</a:t>
            </a:r>
            <a:pPr algn="l" indent="0" marL="0">
              <a:lnSpc>
                <a:spcPts val="7176"/>
              </a:lnSpc>
              <a:buNone/>
            </a:pPr>
            <a:r>
              <a:rPr lang="en-US" sz="7800" i="1" spc="-94" kern="0" dirty="0">
                <a:solidFill>
                  <a:srgbClr val="5560E5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.</a:t>
            </a:r>
            <a:endParaRPr lang="en-US" sz="78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3031589"/>
            <a:ext cx="1926372" cy="445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Perguntas?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ewsread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anken Grotes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Atenção primária à saúde em São Carlos</dc:title>
  <dc:subject>PptxGenJS Presentation</dc:subject>
  <dc:creator>Grupo SCC0245</dc:creator>
  <cp:lastModifiedBy>Grupo SCC0245</cp:lastModifiedBy>
  <cp:revision>1</cp:revision>
  <dcterms:created xsi:type="dcterms:W3CDTF">2026-10-29T16:17:15Z</dcterms:created>
  <dcterms:modified xsi:type="dcterms:W3CDTF">2026-10-29T16:17:15Z</dcterms:modified>
</cp:coreProperties>
</file>